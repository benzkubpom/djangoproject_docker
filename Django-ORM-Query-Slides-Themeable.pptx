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737360"/>
            <a:ext cx="10515600" cy="1188720"/>
          </a:xfrm>
        </p:spPr>
        <p:txBody>
          <a:bodyPr/>
          <a:lstStyle/>
          <a:p>
            <a:r>
              <a:rPr sz="5400" b="1">
                <a:solidFill>
                  <a:schemeClr val="lt1"/>
                </a:solidFill>
              </a:rPr>
              <a:t>Django ORM Query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017520"/>
            <a:ext cx="10515600" cy="1463040"/>
          </a:xfrm>
        </p:spPr>
        <p:txBody>
          <a:bodyPr/>
          <a:lstStyle/>
          <a:p>
            <a:r>
              <a:rPr sz="2800">
                <a:solidFill>
                  <a:schemeClr val="accent2"/>
                </a:solidFill>
              </a:rPr>
              <a:t>สอน Query ข้อมูลผ่าน python manage.py shell</a:t>
            </a:r>
          </a:p>
          <a:p>
            <a:r>
              <a:rPr sz="1800">
                <a:solidFill>
                  <a:schemeClr val="lt2"/>
                </a:solidFill>
              </a:rPr>
              <a:t>ฝึกจากข้อมูลจริง — ร้านขายอุปกรณ์คอมพิวเตอร์ 100 รายการ  |  10 แบรนด์  |  16 หมวดหมู่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5394960"/>
            <a:ext cx="12191695" cy="10972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lt2">
                    <a:lumMod val="90000"/>
                  </a:schemeClr>
                </a:solidFill>
                <a:latin typeface="Consolas"/>
              </a:rPr>
              <a:t>app: shop  •  models: Brand / Category /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สิ่งที่จะได้เรียนวันนี้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/>
              <a:t>• ภาคทฤษฎี</a:t>
            </a:r>
          </a:p>
          <a:p>
            <a:pPr>
              <a:spcAft>
                <a:spcPts val="600"/>
              </a:spcAft>
            </a:pPr>
            <a:r>
              <a:rPr sz="1500" b="0"/>
              <a:t>    – โครงสร้าง Models 3 ตาราง + ForeignKey</a:t>
            </a:r>
          </a:p>
          <a:p>
            <a:pPr>
              <a:spcAft>
                <a:spcPts val="600"/>
              </a:spcAft>
            </a:pPr>
            <a:r>
              <a:rPr sz="1500" b="0"/>
              <a:t>    – ผ่า models.py ทีละบรรทัด</a:t>
            </a:r>
          </a:p>
          <a:p>
            <a:pPr>
              <a:spcAft>
                <a:spcPts val="600"/>
              </a:spcAft>
            </a:pPr>
            <a:r>
              <a:rPr sz="1500" b="0"/>
              <a:t>    – QuerySet คืออะไร ทำงานยังไง</a:t>
            </a:r>
          </a:p>
          <a:p>
            <a:pPr>
              <a:spcAft>
                <a:spcPts val="600"/>
              </a:spcAft>
            </a:pPr>
            <a:r>
              <a:rPr sz="1700" b="1"/>
              <a:t>• Query พื้นฐาน</a:t>
            </a:r>
          </a:p>
          <a:p>
            <a:pPr>
              <a:spcAft>
                <a:spcPts val="600"/>
              </a:spcAft>
            </a:pPr>
            <a:r>
              <a:rPr sz="1500" b="0"/>
              <a:t>    – all / count / first / last / get</a:t>
            </a:r>
          </a:p>
          <a:p>
            <a:pPr>
              <a:spcAft>
                <a:spcPts val="600"/>
              </a:spcAft>
            </a:pPr>
            <a:r>
              <a:rPr sz="1500" b="0"/>
              <a:t>    – filter / exclude / Field Lookups</a:t>
            </a:r>
          </a:p>
          <a:p>
            <a:pPr>
              <a:spcAft>
                <a:spcPts val="600"/>
              </a:spcAft>
            </a:pPr>
            <a:r>
              <a:rPr sz="1500" b="0"/>
              <a:t>    – order_by / slicing /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/>
              <a:t>• Query ขั้นสูง</a:t>
            </a:r>
          </a:p>
          <a:p>
            <a:pPr>
              <a:spcAft>
                <a:spcPts val="600"/>
              </a:spcAft>
            </a:pPr>
            <a:r>
              <a:rPr sz="1500" b="0"/>
              <a:t>    – Query ข้ามตาราง (__)</a:t>
            </a:r>
          </a:p>
          <a:p>
            <a:pPr>
              <a:spcAft>
                <a:spcPts val="600"/>
              </a:spcAft>
            </a:pPr>
            <a:r>
              <a:rPr sz="1500" b="0"/>
              <a:t>    – Q objects (OR / NOT)</a:t>
            </a:r>
          </a:p>
          <a:p>
            <a:pPr>
              <a:spcAft>
                <a:spcPts val="600"/>
              </a:spcAft>
            </a:pPr>
            <a:r>
              <a:rPr sz="1500" b="0"/>
              <a:t>    – aggregate และ annotate (GROUP BY)</a:t>
            </a:r>
          </a:p>
          <a:p>
            <a:pPr>
              <a:spcAft>
                <a:spcPts val="600"/>
              </a:spcAft>
            </a:pPr>
            <a:r>
              <a:rPr sz="1700" b="1"/>
              <a:t>• ลงมือจริง</a:t>
            </a:r>
          </a:p>
          <a:p>
            <a:pPr>
              <a:spcAft>
                <a:spcPts val="600"/>
              </a:spcAft>
            </a:pPr>
            <a:r>
              <a:rPr sz="1500" b="0"/>
              <a:t>    – เพิ่ม แก้ ลบข้อมูล (CRUD)</a:t>
            </a:r>
          </a:p>
          <a:p>
            <a:pPr>
              <a:spcAft>
                <a:spcPts val="600"/>
              </a:spcAft>
            </a:pPr>
            <a:r>
              <a:rPr sz="1500" b="0"/>
              <a:t>    – เทคนิคโปร: ดู SQL จริง, แก้ N+1</a:t>
            </a:r>
          </a:p>
          <a:p>
            <a:pPr>
              <a:spcAft>
                <a:spcPts val="600"/>
              </a:spcAft>
            </a:pPr>
            <a:r>
              <a:rPr sz="1500" b="0"/>
              <a:t>    – โจทย์ฝึกหัดพร้อมเฉลย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รู้จักชุดข้อมูล</a:t>
            </a:r>
            <a:r>
              <a:rPr sz="1400">
                <a:solidFill>
                  <a:schemeClr val="tx2">
                    <a:lumMod val="75000"/>
                    <a:lumOff val="25000"/>
                  </a:schemeClr>
                </a:solidFill>
              </a:rPr>
              <a:t>   ร้านขายอุปกรณ์คอมพิวเตอร์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สินค้า 100 รายการ ครอบคลุม 16 หมวดหมู่ เช่น โน้ตบุ๊ก การ์ดจอ ซีพียู จอภาพ เมาส์ คีย์บอร์ด</a:t>
            </a:r>
          </a:p>
          <a:p>
            <a:pPr>
              <a:spcAft>
                <a:spcPts val="600"/>
              </a:spcAft>
            </a:pPr>
            <a:r>
              <a:rPr sz="1600" b="0"/>
              <a:t>• 10 แบรนด์: Astra, ByteCraft, CoreLink, Nexora, NovaTech, Orionix, PixelForge, Quantum, VoltEdge, ZenCore</a:t>
            </a:r>
          </a:p>
          <a:p>
            <a:pPr>
              <a:spcAft>
                <a:spcPts val="600"/>
              </a:spcAft>
            </a:pPr>
            <a:r>
              <a:rPr sz="1600" b="0"/>
              <a:t>• ราคาตั้งแต่ 400 บาท (เมาส์) ถึง 76,200 บาท (คอมตั้งโต๊ะ) — มูลค่ารวม 1,543,600 บาท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10972800" cy="152120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926080"/>
            <a:ext cx="10643616" cy="133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chemeClr val="accent2"/>
                </a:solidFill>
                <a:latin typeface="Consolas"/>
              </a:rPr>
              <a:t>$ python manage.py migrate          # สร้างตารางในฐานข้อมูล</a:t>
            </a:r>
          </a:p>
          <a:p>
            <a:r>
              <a:rPr sz="1300">
                <a:solidFill>
                  <a:schemeClr val="accent2"/>
                </a:solidFill>
                <a:latin typeface="Consolas"/>
              </a:rPr>
              <a:t>$ python manage.py load_products    # เพิ่มสินค้า 100 รายการ</a:t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>เสร็จสิ้น: เพิ่มใหม่ 100 รายการ, อัปเดต 0 รายการ</a:t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>(Brand 10, Category 16, Product 100)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84446"/>
            <a:ext cx="1097280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39310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💡 รันซ้ำกี่ครั้งก็ได้ ข้อมูลไม่ซ้ำ — ถ้าทดลอง update/delete จนข้อมูลเละ รันคำสั่งนี้เพื่อกู้กลับได้เสมอ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โครงสร้าง Models — 3 ตาราง เชื่อมด้วย ForeignKey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322300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1463040"/>
            <a:ext cx="9637776" cy="304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lt1"/>
                </a:solidFill>
                <a:latin typeface="Consolas"/>
              </a:rPr>
              <a:t> ┌──────────┐         ┌──────────────────┐         ┌────────────┐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│  Brand   │ 1     N │     Product      │ N     1 │  Category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│──────────│◄────────│──────────────────│────────►│────────────│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│ id       │         │ id               │         │ id       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│ name     │         │ name             │         │ name     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└──────────┘         │ brand (FK)       │         └────────────┘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                    │ category (FK)  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                    │ description    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                    │ price          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                    │ created_at     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                    └──────────────────┘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966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สินค้า "หลายตัว" ชี้ไปแบรนด์ "หนึ่งแบรนด์" = ความสัมพันธ์แบบ Many-to-One</a:t>
            </a:r>
          </a:p>
          <a:p>
            <a:pPr>
              <a:spcAft>
                <a:spcPts val="600"/>
              </a:spcAft>
            </a:pPr>
            <a:r>
              <a:rPr sz="1600" b="0"/>
              <a:t>• ในฐานข้อมูลจริง Product เก็บแค่ตัวเลข brand_id และ category_id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ผ่า models.py (1) — โมเดล Brand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675120" cy="25054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6345936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chemeClr val="lt1"/>
                </a:solidFill>
                <a:latin typeface="Consolas"/>
              </a:rPr>
              <a:t>from django.db import models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class Brand(models.Model):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 name = models.CharField(max_length=100,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                         unique=True)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 def __str__(self):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     return self.name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/>
              <a:t>• สืบทอด models.Model</a:t>
            </a:r>
          </a:p>
          <a:p>
            <a:pPr>
              <a:spcAft>
                <a:spcPts val="600"/>
              </a:spcAft>
            </a:pPr>
            <a:r>
              <a:rPr sz="1300" b="0"/>
              <a:t>    – Django รู้ทันทีว่านี่คือ "ตาราง"</a:t>
            </a:r>
          </a:p>
          <a:p>
            <a:pPr>
              <a:spcAft>
                <a:spcPts val="600"/>
              </a:spcAft>
            </a:pPr>
            <a:r>
              <a:rPr sz="1300" b="0"/>
              <a:t>    – ได้คอลัมน์ id ฟรีอัตโนมัติ</a:t>
            </a:r>
          </a:p>
          <a:p>
            <a:pPr>
              <a:spcAft>
                <a:spcPts val="600"/>
              </a:spcAft>
            </a:pPr>
            <a:r>
              <a:rPr sz="1500" b="1"/>
              <a:t>• CharField</a:t>
            </a:r>
          </a:p>
          <a:p>
            <a:pPr>
              <a:spcAft>
                <a:spcPts val="600"/>
              </a:spcAft>
            </a:pPr>
            <a:r>
              <a:rPr sz="1300" b="0"/>
              <a:t>    – ข้อความสั้น ต้องระบุ max_length</a:t>
            </a:r>
          </a:p>
          <a:p>
            <a:pPr>
              <a:spcAft>
                <a:spcPts val="600"/>
              </a:spcAft>
            </a:pPr>
            <a:r>
              <a:rPr sz="1500" b="1"/>
              <a:t>• unique=True</a:t>
            </a:r>
          </a:p>
          <a:p>
            <a:pPr>
              <a:spcAft>
                <a:spcPts val="600"/>
              </a:spcAft>
            </a:pPr>
            <a:r>
              <a:rPr sz="1300" b="0"/>
              <a:t>    – ห้ามมีชื่อแบรนด์ซ้ำ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14215"/>
            <a:ext cx="6675120" cy="7655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4105655"/>
            <a:ext cx="6345936" cy="58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accent3"/>
                </a:solidFill>
                <a:latin typeface="Consolas"/>
              </a:rPr>
              <a:t># ไม่มี __str__          # มี __str__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&lt;Brand: Brand object (1)&gt;  &lt;Brand: Astra&gt;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62652"/>
            <a:ext cx="1115568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17516"/>
            <a:ext cx="1088135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__str__ คือข้อความแทน object เวลา print — ไม่เขียนก็ไม่ error แต่อ่านไม่รู้เรื่อง จึงควรมีทุกโมเดล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ผ่า models.py (2) — ForeignKey บรรทัดสำคัญที่สุด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7909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60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chemeClr val="lt1"/>
                </a:solidFill>
                <a:latin typeface="Consolas"/>
              </a:rPr>
              <a:t>brand = models.ForeignKey(Brand, on_delete=models.CASCADE,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                       related_name='products')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8600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200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chemeClr val="lt1"/>
                          </a:solidFill>
                        </a:rPr>
                        <a:t>ส่วนประกอบ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chemeClr val="lt1"/>
                          </a:solidFill>
                        </a:rPr>
                        <a:t>หน้าที่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  <a:latin typeface="Consolas"/>
                        </a:rPr>
                        <a:t>Brand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ชี้ไปตารางไหน — ในฐานข้อมูลจะสร้างคอลัมน์ brand_id เก็บเลข id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on_delete=CASCADE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ลบแบรนด์เมื่อไหร่ → สินค้าของแบรนด์นั้นถูกลบตามทั้งหมด (บังคับต้องระบุ)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related_name='products'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ตั้งชื่อทางย้อนกลับ → เขียน brand.products.all() ได้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77639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ตัวเลือกอื่นของ on_delete: PROTECT (ห้ามลบถ้ายังมีลูก), SET_NULL (ลูกกลายเป็นค่าว่าง)</a:t>
            </a:r>
          </a:p>
          <a:p>
            <a:pPr>
              <a:spcAft>
                <a:spcPts val="600"/>
              </a:spcAft>
            </a:pPr>
            <a:r>
              <a:rPr sz="1600" b="0"/>
              <a:t>• category ก็เป็น ForeignKey แบบเดียวกัน แค่ชี้ไปตาราง Category แทน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1097280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75503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related_name ซ้ำกันได้เพราะอยู่คนละคลาสปลายทาง — Brand.products กับ Category.products ไม่ชนกัน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ผ่า models.py (3) — ฟิลด์ที่เหลือของ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107670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893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chemeClr val="lt1"/>
                </a:solidFill>
                <a:latin typeface="Consolas"/>
              </a:rPr>
              <a:t>description = models.TextField(blank=True)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price       = models.DecimalField(max_digits=10, decimal_places=2)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created_at  = models.DateTimeField(auto_now_add=True)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1460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852160"/>
              </a:tblGrid>
              <a:tr h="3200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chemeClr val="lt1"/>
                          </a:solidFill>
                        </a:rPr>
                        <a:t>ฟิลด์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chemeClr val="lt1"/>
                          </a:solidFill>
                        </a:rPr>
                        <a:t>ประเภท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chemeClr val="lt1"/>
                          </a:solidFill>
                        </a:rPr>
                        <a:t>เหตุผลที่เลือกใช้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TextField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ข้อความยาวไม่จำกัด + blank=True เว้นว่างได้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DecimalField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เงินต้องเป๊ะ — float เพี้ยนได้ (0.1+0.2 ≠ 0.3)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created_at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DateTimeField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chemeClr val="tx1"/>
                          </a:solidFill>
                        </a:rPr>
                        <a:t>auto_now_add=True ประทับเวลาตอนสร้าง อัตโนมัติ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max_digits=10, decimal_places=2 → เก็บได้สูงสุด 99,999,999.99</a:t>
            </a:r>
          </a:p>
          <a:p>
            <a:pPr>
              <a:spcAft>
                <a:spcPts val="600"/>
              </a:spcAft>
            </a:pPr>
            <a:r>
              <a:rPr sz="1600" b="0"/>
              <a:t>• blank=True คือกติกาฝั่งฟอร์ม (กรอกว่างได้) ต่างจาก null=True ซึ่งเป็นกติกาฝั่งฐานข้อมูล</a:t>
            </a:r>
          </a:p>
          <a:p>
            <a:pPr>
              <a:spcAft>
                <a:spcPts val="600"/>
              </a:spcAft>
            </a:pPr>
            <a:r>
              <a:rPr sz="1600" b="0"/>
              <a:t>• auto_now_add = ประทับครั้งเดียวตอนสร้าง / auto_now = ประทับใหม่ทุกครั้งที่ save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เริ่มลงมือ — เปิด Django Shell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13624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chemeClr val="accent2"/>
                </a:solidFill>
                <a:latin typeface="Consolas"/>
              </a:rPr>
              <a:t>$ python manage.py shell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500">
                <a:solidFill>
                  <a:schemeClr val="lt1"/>
                </a:solidFill>
                <a:latin typeface="Consolas"/>
              </a:rPr>
              <a:t> from shop.models import Product, Brand, Category</a:t>
            </a:r>
          </a:p>
          <a:p>
            <a:r>
              <a:rPr sz="15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500">
                <a:solidFill>
                  <a:schemeClr val="lt1"/>
                </a:solidFill>
                <a:latin typeface="Consolas"/>
              </a:rPr>
              <a:t> from django.db.models import Avg, Max, Min, Sum, Count, Q,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7121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เครื่องหมาย &gt;&gt;&gt; คือ prompt ของ shell — ไม่ต้องพิมพ์ตาม</a:t>
            </a:r>
          </a:p>
          <a:p>
            <a:pPr>
              <a:spcAft>
                <a:spcPts val="600"/>
              </a:spcAft>
            </a:pPr>
            <a:r>
              <a:rPr sz="1600" b="0"/>
              <a:t>• ต้อง import ทุกครั้งที่เปิด shell ใหม่ ไม่งั้นเจอ NameError: name 'Product' is not defined</a:t>
            </a:r>
          </a:p>
          <a:p>
            <a:pPr>
              <a:spcAft>
                <a:spcPts val="600"/>
              </a:spcAft>
            </a:pPr>
            <a:r>
              <a:rPr sz="1600" b="0"/>
              <a:t>• บรรทัดแรกดึง "โมเดล" ของเรา / บรรทัดสองดึง "เครื่องมือ query" ของ Django</a:t>
            </a:r>
          </a:p>
          <a:p>
            <a:pPr>
              <a:spcAft>
                <a:spcPts val="600"/>
              </a:spcAft>
            </a:pPr>
            <a:r>
              <a:rPr sz="1600" b="0"/>
              <a:t>• ออกจาก shell: พิมพ์ exit() หรือกด Ctrl+D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97280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84064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💡 Django Shell = Python ธรรมดาที่ "ต่อสายตรง" กับฐานข้อมูลของโปรเจคเราแล้ว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Query แรกในชีวิต — all() และ count()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2403855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222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400">
                <a:solidFill>
                  <a:schemeClr val="lt1"/>
                </a:solidFill>
                <a:latin typeface="Consolas"/>
              </a:rPr>
              <a:t> Product.objects.all()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&lt;QuerySet [&lt;Product: Power Supply S3809-045 - 6,500 บาท&gt;,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         &lt;Product: Laptop C6684-081 - 50,300 บาท&gt;, ...]&gt;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400">
                <a:solidFill>
                  <a:schemeClr val="lt1"/>
                </a:solidFill>
                <a:latin typeface="Consolas"/>
              </a:rPr>
              <a:t> Product.objects.count()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100</a:t>
            </a:r>
          </a:p>
          <a:p>
            <a:r>
              <a:rPr sz="14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400">
                <a:solidFill>
                  <a:schemeClr val="lt1"/>
                </a:solidFill>
                <a:latin typeface="Consolas"/>
              </a:rPr>
              <a:t> Brand.objects.count()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12616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all() = เอาทุกแถว  (SQL: SELECT * FROM shop_product)</a:t>
            </a:r>
          </a:p>
          <a:p>
            <a:pPr>
              <a:spcAft>
                <a:spcPts val="600"/>
              </a:spcAft>
            </a:pPr>
            <a:r>
              <a:rPr sz="1600" b="0"/>
              <a:t>• count() = นับจำนวน  (SQL: SELECT COUNT(*) ...)</a:t>
            </a:r>
          </a:p>
          <a:p>
            <a:pPr>
              <a:spcAft>
                <a:spcPts val="600"/>
              </a:spcAft>
            </a:pPr>
            <a:r>
              <a:rPr sz="1600" b="0"/>
              <a:t>• ข้อความใน &lt;Product: ...&gt; มาจาก __str__ ที่เราเขียนไว้นั่นเอง</a:t>
            </a:r>
          </a:p>
          <a:p>
            <a:pPr>
              <a:spcAft>
                <a:spcPts val="600"/>
              </a:spcAft>
            </a:pPr>
            <a:r>
              <a:rPr sz="1600" b="0"/>
              <a:t>• "..." ท้าย QuerySet = shell แสดงตัวอย่างแค่ 20 แถวแรก ไม่ใช่ข้อมูลมีแค่นั้น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ผ่าโครงสร้างคำสั่ง Product.objects.all()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371600"/>
            <a:ext cx="9601200" cy="164820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4751" y="1463040"/>
            <a:ext cx="9272016" cy="146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chemeClr val="lt1"/>
                </a:solidFill>
                <a:latin typeface="Consolas"/>
              </a:rPr>
              <a:t>Product  .objects  .all()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│         │        │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│         │        └── ③ เมธอด: จะเอาอะไร (ทุกแถว)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│         └── ② Manager: ประตูเข้าตาราง (ห้ามข้าม!)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   └── ① คลาสโมเดล: ตัวแทนตาราง shop_product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9601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Product = ตาราง  /  Product.objects = พนักงานที่วิ่งไปหยิบข้อมูลให้เรา</a:t>
            </a:r>
          </a:p>
          <a:p>
            <a:pPr>
              <a:spcAft>
                <a:spcPts val="600"/>
              </a:spcAft>
            </a:pPr>
            <a:r>
              <a:rPr sz="1600" b="0"/>
              <a:t>• เรียกข้ามขั้นไม่ได้ — Product.all() จะ error ทันที</a:t>
            </a:r>
          </a:p>
          <a:p>
            <a:pPr>
              <a:spcAft>
                <a:spcPts val="600"/>
              </a:spcAft>
            </a:pPr>
            <a:r>
              <a:rPr sz="1600" b="1"/>
              <a:t>• Lazy Evaluation: พิมพ์คำสั่งเฉย ๆ ยังไม่ยิง SQL — จะยิงตอน "ใช้ผลจริง" (print / วนลูป / count)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212080"/>
            <a:ext cx="960120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5266944"/>
            <a:ext cx="93268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ผลลัพธ์ที่ได้เรียกว่า QuerySet — หน้าตาเหมือน list: วนลูปได้ นับได้ ตัดท่อนได้ และ filter ต่อได้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หยิบทีละตัว — first() / last() / get()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18577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1674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400">
                <a:solidFill>
                  <a:schemeClr val="lt1"/>
                </a:solidFill>
                <a:latin typeface="Consolas"/>
              </a:rPr>
              <a:t> Product.objects.first()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&lt;Product: Power Supply S3809-045 - 6,500 บาท&gt;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400">
                <a:solidFill>
                  <a:schemeClr val="lt1"/>
                </a:solidFill>
                <a:latin typeface="Consolas"/>
              </a:rPr>
              <a:t> p = Product.objects.get(name='Laptop C6684-081')</a:t>
            </a:r>
          </a:p>
          <a:p>
            <a:r>
              <a:rPr sz="14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400">
                <a:solidFill>
                  <a:schemeClr val="lt1"/>
                </a:solidFill>
                <a:latin typeface="Consolas"/>
              </a:rPr>
              <a:t> p.price          # Decimal('50300.00')</a:t>
            </a:r>
          </a:p>
          <a:p>
            <a:r>
              <a:rPr sz="14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400">
                <a:solidFill>
                  <a:schemeClr val="lt1"/>
                </a:solidFill>
                <a:latin typeface="Consolas"/>
              </a:rPr>
              <a:t> p.brand.name     # 'ZenCore'  ← เดินข้าม FK ด้วยจุด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75076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get() ต้องเจอ 1 แถวเป๊ะ ๆ เท่านั้น: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chemeClr val="accent4"/>
                </a:solidFill>
              </a:rPr>
              <a:t>• ไม่เจอเลย → DoesNotExist  |  เจอหลายตัว → MultipleObjectsReturned</a:t>
            </a:r>
          </a:p>
          <a:p>
            <a:pPr>
              <a:spcAft>
                <a:spcPts val="600"/>
              </a:spcAft>
            </a:pPr>
            <a:r>
              <a:rPr sz="1600" b="0"/>
              <a:t>• ไม่แน่ใจว่ามีไหม ใช้ .filter(...).first() แทน — ไม่เจอได้ None ไม่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กรองข้อมูล — filter() และ exclude()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6197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43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Product.objects.filter(category__name='โน้ตบุ๊ก').count()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7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Product.objects.exclude(brand__name='Astra').count()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82   # ทั้งหมด 100 - Astra 18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3"/>
                </a:solidFill>
                <a:latin typeface="Consolas"/>
              </a:rPr>
              <a:t># หลายเงื่อนไขคั่น comma = AND (ต้องจริงทุกข้อ)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Product.objects.filter(brand__name='Astra',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                   category__name='โน้ตบุ๊ก', price__lt=55000)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&lt;QuerySet [&lt;Product: Laptop Q4376-017 - 52,800 บาท&gt;]&gt;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37076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• filter = เอาที่ตรงเงื่อนไข (WHERE)  /  exclude = เอาทุกอย่างยกเว้นที่ตรง (WHERE NOT)</a:t>
            </a:r>
          </a:p>
          <a:p>
            <a:pPr>
              <a:spcAft>
                <a:spcPts val="600"/>
              </a:spcAft>
            </a:pPr>
            <a:r>
              <a:rPr sz="1500" b="0"/>
              <a:t>• ต่อโซ่ได้เรื่อย ๆ: qs.filter(...).exclude(...).filter(...) — ยิง SQL ครั้งเดียวตอนใช้ผล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Field Lookups — เครื่องมือเปรียบเทียบหลัง __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103120"/>
                <a:gridCol w="4114800"/>
              </a:tblGrid>
              <a:tr h="320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chemeClr val="lt1"/>
                          </a:solidFill>
                        </a:rPr>
                        <a:t>Lookup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chemeClr val="lt1"/>
                          </a:solidFill>
                        </a:rPr>
                        <a:t>ความหมาย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chemeClr val="lt1"/>
                          </a:solidFill>
                        </a:rPr>
                        <a:t>เทียบ SQL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chemeClr val="lt1"/>
                          </a:solidFill>
                        </a:rPr>
                        <a:t>ตัวอย่าง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exact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เท่ากับเป๊ะ (ค่าเริ่มต้น)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=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name__exact='Astra'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contains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มีคำนี้อยู่ข้างใน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LIKE '%...%'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description__contains='SSD'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startswith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ขึ้นต้นด้วย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LIKE '...%'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name__startswith='Laptop'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gt / gte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มากกว่า / ตั้งแต่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&gt; / &gt;=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price__gt=60000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lt / lte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น้อยกว่า / ไม่เกิน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&lt; / &lt;=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price__lte=5000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in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อยู่ในลิสต์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IN (...)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brand__name__in=['Astra',...]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อยู่ระหว่าง (รวมหัวท้าย)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BETWEEN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price__range=(10000, 15000)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isnull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</a:rPr>
                        <a:t>เป็นค่าว่าง NULL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IS NULL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chemeClr val="tx1"/>
                          </a:solidFill>
                          <a:latin typeface="Consolas"/>
                        </a:rPr>
                        <a:t>description__isnull=True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434840"/>
            <a:ext cx="1097280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489703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ทำไมไม่เขียน price &lt; 20000 ตรง ๆ? เพราะในวงเล็บ filter() ใส่ได้แค่ ชื่อ=ค่า — Django เลยยัดตัวเปรียบเทียบไว้ในชื่อผ่าน __lt แทน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Lookups กับข้อมูลจริง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3686555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350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Product.objects.filter(price__lt=2000).count()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7    # เช่น Mouse P5380-042 (400), PC Case P2244-094 (1,300)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Product.objects.filter(price__range=(10000, 15000)).count()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13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Product.objects.filter(description__contains='RAM 32GB').count()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7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Product.objects.filter(category__name='จอภาพ',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                   description__contains='144Hz')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&lt;QuerySet [&lt;Product: Monitor T5854-072 - 17,800 บาท&gt;,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           &lt;Product: Monitor X6168-024 - 25,800 บาท&gt;]&gt;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ไขปริศนา __ (underscore สองตัว)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15600" cy="158470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71600"/>
            <a:ext cx="10186416" cy="1401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lt1"/>
                </a:solidFill>
                <a:latin typeface="Consolas"/>
              </a:rPr>
              <a:t>brand __ name = 'Astra'          price __ lt = 20000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│    │    │                        │    │   │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│    │    └ ฟิลด์ในตาราง Brand      │    │   └ "น้อยกว่า"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│    └ เดินข้ามตาราง (ตาม FK)       │    └ เรียก lookup</a:t>
            </a:r>
          </a:p>
          <a:p>
            <a:r>
              <a:rPr sz="1400">
                <a:solidFill>
                  <a:schemeClr val="lt1"/>
                </a:solidFill>
                <a:latin typeface="Consolas"/>
              </a:rPr>
              <a:t>  └ ฟิลด์ FK ใน Product              └ ฟิลด์ใน Product 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กฎการอ่าน: คำถัดจาก __ ถ้าเป็น "ฟิลด์ของตารางที่เชื่อมกัน" = ข้ามตาราง / ถ้าเป็นตัวเปรียบเทียบ = lookup</a:t>
            </a:r>
          </a:p>
          <a:p>
            <a:pPr>
              <a:spcAft>
                <a:spcPts val="600"/>
              </a:spcAft>
            </a:pPr>
            <a:r>
              <a:rPr sz="1600" b="0"/>
              <a:t>• ต่อยาวหลายชั้นได้: brand__name__in=['Astra', 'Quantum']  (ข้ามตาราง → ฟิลด์ → lookup)</a:t>
            </a:r>
          </a:p>
          <a:p>
            <a:pPr>
              <a:spcAft>
                <a:spcPts val="600"/>
              </a:spcAft>
            </a:pPr>
            <a:r>
              <a:rPr sz="1600" b="0"/>
              <a:t>• เบื้องหลัง Django สร้าง SQL JOIN ให้อัตโนมัติ ไม่ต้องเขียนเอง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0515600" cy="100050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79"/>
            <a:ext cx="10186416" cy="817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chemeClr val="lt1"/>
                </a:solidFill>
                <a:latin typeface="Consolas"/>
              </a:rPr>
              <a:t>SELECT * FROM shop_product JOIN shop_brand</a:t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>  ON shop_product.brand_id = shop_brand.id</a:t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>WHERE shop_brand.name = 'Astra';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เรียงลำดับและตัดท่อน — order_by() + [:5]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3530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17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for p in Product.objects.order_by('-price')[:5]: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print(f'{p.name:30} {p.price:&gt;10,.0f} บาท')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Desktop D7663-082                  76,200 บาท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Laptop W5685-049                   65,700 บาท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Graphics Card J9276-036            61,200 บาท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Laptop M2295-065                   60,100 บาท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Graphics Card T3027-020            57,800 บาท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703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• 'price' เรียงน้อย→มาก (ASC)  /  '-price' ใส่ขีดลบ = มาก→น้อย (DESC)</a:t>
            </a:r>
          </a:p>
          <a:p>
            <a:pPr>
              <a:spcAft>
                <a:spcPts val="600"/>
              </a:spcAft>
            </a:pPr>
            <a:r>
              <a:rPr sz="1500" b="0"/>
              <a:t>• [:5] ไม่ได้ดึง 100 แถวแล้วค่อยตัด — Django แปลงเป็น SQL LIMIT 5 ตั้งแต่ต้น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chemeClr val="accent4"/>
                </a:solidFill>
              </a:rPr>
              <a:t>• [-1] ใช้ไม่ได้กับ QuerySet — ต้องใช้ .last() หรือเรียงกลับด้านแล้ว .first()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เลือกเฉพาะคอลัมน์ — values() / values_list()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Product.objects.filter(price__gt=60000).values('name', 'price')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&lt;QuerySet [{'name': 'Laptop W5685-049', 'price': Decimal('65700.00')}, ...]&gt;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Brand.objects.values_list('name', flat=True)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&lt;QuerySet ['Astra', 'ZenCore', 'VoltEdge', 'Nexora', ...]&gt;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3"/>
                </a:solidFill>
                <a:latin typeface="Consolas"/>
              </a:rPr>
              <a:t># แบรนด์ Astra ขายกี่หมวดหมู่? (ตัดค่าซ้ำด้วย distinct)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Product.objects.filter(brand__name='Astra')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.values_list('category__name', flat=True).distinct()</a:t>
            </a:r>
          </a:p>
          <a:p>
            <a:r>
              <a:rPr sz="1350">
                <a:solidFill>
                  <a:schemeClr val="accent3"/>
                </a:solidFill>
                <a:latin typeface="Consolas"/>
              </a:rPr>
              <a:t># ได้ 12 หมวดหมู่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• values() ได้ dict / values_list() ได้ tuple / flat=True ได้ค่าตรง ๆ (ใช้ได้เมื่อเลือกคอลัมน์เดียว)</a:t>
            </a:r>
          </a:p>
          <a:p>
            <a:pPr>
              <a:spcAft>
                <a:spcPts val="600"/>
              </a:spcAft>
            </a:pPr>
            <a:r>
              <a:rPr sz="1500" b="0"/>
              <a:t>• เหมาะกับรายงาน — เบากว่าดึง object เต็มทั้งแถว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Query ข้ามตาราง — เดินหน้าและย้อนกลับ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40680" cy="17815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5111496" cy="1598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chemeClr val="accent3"/>
                </a:solidFill>
                <a:latin typeface="Consolas"/>
              </a:rPr>
              <a:t># เดินหน้า: Product → Brand</a:t>
            </a:r>
          </a:p>
          <a:p>
            <a:r>
              <a:rPr sz="13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00">
                <a:solidFill>
                  <a:schemeClr val="lt1"/>
                </a:solidFill>
                <a:latin typeface="Consolas"/>
              </a:rPr>
              <a:t> p = Product.objects.first()</a:t>
            </a:r>
          </a:p>
          <a:p>
            <a:r>
              <a:rPr sz="13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00">
                <a:solidFill>
                  <a:schemeClr val="lt1"/>
                </a:solidFill>
                <a:latin typeface="Consolas"/>
              </a:rPr>
              <a:t> p.brand</a:t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>&lt;Brand: Astra&gt;</a:t>
            </a:r>
          </a:p>
          <a:p>
            <a:r>
              <a:rPr sz="13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00">
                <a:solidFill>
                  <a:schemeClr val="lt1"/>
                </a:solidFill>
                <a:latin typeface="Consolas"/>
              </a:rPr>
              <a:t> p.brand.name</a:t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>'Astra'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188720"/>
            <a:ext cx="5120640" cy="17815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280160"/>
            <a:ext cx="4791455" cy="1598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chemeClr val="accent3"/>
                </a:solidFill>
                <a:latin typeface="Consolas"/>
              </a:rPr>
              <a:t># ย้อนกลับ: Brand → Products</a:t>
            </a:r>
          </a:p>
          <a:p>
            <a:r>
              <a:rPr sz="13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00">
                <a:solidFill>
                  <a:schemeClr val="lt1"/>
                </a:solidFill>
                <a:latin typeface="Consolas"/>
              </a:rPr>
              <a:t> b = Brand.objects.get(name='Quantum')</a:t>
            </a:r>
          </a:p>
          <a:p>
            <a:r>
              <a:rPr sz="13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00">
                <a:solidFill>
                  <a:schemeClr val="lt1"/>
                </a:solidFill>
                <a:latin typeface="Consolas"/>
              </a:rPr>
              <a:t> b.products.count()</a:t>
            </a:r>
          </a:p>
          <a:p>
            <a:r>
              <a:rPr sz="1300">
                <a:solidFill>
                  <a:schemeClr val="lt1"/>
                </a:solidFill>
                <a:latin typeface="Consolas"/>
              </a:rPr>
              <a:t>6</a:t>
            </a:r>
          </a:p>
          <a:p>
            <a:r>
              <a:rPr sz="130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00">
                <a:solidFill>
                  <a:schemeClr val="lt1"/>
                </a:solidFill>
                <a:latin typeface="Consolas"/>
              </a:rPr>
              <a:t> b.products.filter(price__gt=10000)</a:t>
            </a:r>
          </a:p>
          <a:p>
            <a:r>
              <a:rPr sz="1300">
                <a:solidFill>
                  <a:schemeClr val="accent3"/>
                </a:solidFill>
                <a:latin typeface="Consolas"/>
              </a:rPr>
              <a:t># UPS 11,600 / Processor 18,500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ทางย้อนกลับ b.products มาจาก related_name='products' ที่ตั้งไว้ใน ForeignKey</a:t>
            </a:r>
          </a:p>
          <a:p>
            <a:pPr>
              <a:spcAft>
                <a:spcPts val="600"/>
              </a:spcAft>
            </a:pPr>
            <a:r>
              <a:rPr sz="1600" b="0"/>
              <a:t>• b.products เป็น Manager เหมือน Product.objects — ใช้ filter / count / order_by ต่อได้หมด</a:t>
            </a:r>
          </a:p>
          <a:p>
            <a:pPr>
              <a:spcAft>
                <a:spcPts val="600"/>
              </a:spcAft>
            </a:pPr>
            <a:r>
              <a:rPr sz="1600" b="0"/>
              <a:t>• ถ้าไม่ตั้ง related_name Django จะใช้ชื่ออัตโนมัติ b.product_set (อ่านยากกว่า)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Q Objects — เมื่อต้องการ OR และ NOT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from django.db.models import Q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3"/>
                </a:solidFill>
                <a:latin typeface="Consolas"/>
              </a:rPr>
              <a:t># OR: เมาส์ หรือ คีย์บอร์ด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Product.objects.filter(Q(category__name='เมาส์') |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                   Q(category__name='คีย์บอร์ด')).count()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12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3"/>
                </a:solidFill>
                <a:latin typeface="Consolas"/>
              </a:rPr>
              <a:t># NOT: ไม่ใช่ Astra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Product.objects.filter(~Q(brand__name='Astra')).count()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• filter ปกติ = AND เท่านั้น — อยากได้ OR ต้องห่อเงื่อนไขด้วย Q แล้วเชื่อมด้วย  |</a:t>
            </a:r>
          </a:p>
          <a:p>
            <a:pPr>
              <a:spcAft>
                <a:spcPts val="600"/>
              </a:spcAft>
            </a:pPr>
            <a:r>
              <a:rPr sz="1500" b="0"/>
              <a:t>• สัญลักษณ์:  |  = OR   /   &amp; = AND   /   ~ = NOT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chemeClr val="accent4"/>
                </a:solidFill>
              </a:rPr>
              <a:t>• ผสม Q กับเงื่อนไขปกติได้ แต่ Q ต้องเขียนมาก่อนเสมอ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aggregate() — สรุปยอดทั้งตารางเหลือค่าเดียว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Product.objects.aggregate(Avg('price'), Max('price'),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                      Min('price'), Sum('price'))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{'price__avg': Decimal('15436'),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 'price__max': Decimal('76200'),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 'price__min': Decimal('400'),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 'price__sum': Decimal('1543600')}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3"/>
                </a:solidFill>
                <a:latin typeface="Consolas"/>
              </a:rPr>
              <a:t># สรุปเฉพาะกลุ่มที่กรองแล้วก็ได้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Product.objects.filter(category__name='โน้ตบุ๊ก').aggregate(Avg('price'))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{'price__avg': Decimal('49757.14...')}   # โน้ตบุ๊กแพงกว่าค่าเฉลี่ยร้าน 3 เท่า!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• ผลลัพธ์เป็น dict ธรรมดา — key ตั้งอัตโนมัติจาก ชื่อฟิลด์__ชื่อฟังก์ชัน</a:t>
            </a:r>
          </a:p>
          <a:p>
            <a:pPr>
              <a:spcAft>
                <a:spcPts val="600"/>
              </a:spcAft>
            </a:pPr>
            <a:r>
              <a:rPr sz="1500" b="0"/>
              <a:t>• ตั้งชื่อเองได้: aggregate(avg_price=Avg('price'))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annotate() — GROUP BY ฉบับ Django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6949440" cy="31531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6620255" cy="297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for b in Brand.objects\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.annotate(total=Count('products'))\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.order_by('-total'):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print(b.name, b.total)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Astra 18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ByteCraft 12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Nexora 11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CoreLink 11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ZenCore 10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3931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• แปะค่าคำนวณให้ทุกแถว</a:t>
            </a:r>
          </a:p>
          <a:p>
            <a:pPr>
              <a:spcAft>
                <a:spcPts val="600"/>
              </a:spcAft>
            </a:pPr>
            <a:r>
              <a:rPr sz="1200" b="0"/>
              <a:t>    – total กลายเป็น attribute ใหม่ของ Brand ชั่วคราว</a:t>
            </a:r>
          </a:p>
          <a:p>
            <a:pPr>
              <a:spcAft>
                <a:spcPts val="600"/>
              </a:spcAft>
            </a:pPr>
            <a:r>
              <a:rPr sz="1400" b="1"/>
              <a:t>• Count('products')</a:t>
            </a:r>
          </a:p>
          <a:p>
            <a:pPr>
              <a:spcAft>
                <a:spcPts val="600"/>
              </a:spcAft>
            </a:pPr>
            <a:r>
              <a:rPr sz="1200" b="0"/>
              <a:t>    – นับผ่าน related_name</a:t>
            </a:r>
          </a:p>
          <a:p>
            <a:pPr>
              <a:spcAft>
                <a:spcPts val="600"/>
              </a:spcAft>
            </a:pPr>
            <a:r>
              <a:rPr sz="1400" b="1"/>
              <a:t>• ใช้ต่อได้เลย</a:t>
            </a:r>
          </a:p>
          <a:p>
            <a:pPr>
              <a:spcAft>
                <a:spcPts val="600"/>
              </a:spcAft>
            </a:pPr>
            <a:r>
              <a:rPr sz="1200" b="0"/>
              <a:t>    – .order_by('-total')</a:t>
            </a:r>
          </a:p>
          <a:p>
            <a:pPr>
              <a:spcAft>
                <a:spcPts val="600"/>
              </a:spcAft>
            </a:pPr>
            <a:r>
              <a:rPr sz="1200" b="0"/>
              <a:t>    – .filter(total__gt=10) = HAVING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40680"/>
            <a:ext cx="1097280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95544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ราคาเฉลี่ยต่อหมวด: Category.objects.annotate(avg=Avg('products__price')) → โน้ตบุ๊กนำที่ ~49,757 บาท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เทียบชัด ๆ — aggregate vs annotate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320039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chemeClr val="lt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chemeClr val="lt1"/>
                          </a:solidFill>
                        </a:rPr>
                        <a:t>aggregate()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chemeClr val="lt1"/>
                          </a:solidFill>
                        </a:rPr>
                        <a:t>annotate()</a:t>
                      </a:r>
                    </a:p>
                  </a:txBody>
                  <a:tcPr>
                    <a:solidFill>
                      <a:schemeClr val="dk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ผลลัพธ์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dict ค่าเดียว (จบเลย)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QuerySet เดิม + คอลัมน์ใหม่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ใช้เมื่อ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สรุปยอดรวม "ทั้งหมด"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สรุปยอด "แยกตามกลุ่ม"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เทียบ SQL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  <a:latin typeface="Consolas"/>
                        </a:rPr>
                        <a:t>SELECT AVG(price)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  <a:latin typeface="Consolas"/>
                        </a:rPr>
                        <a:t>GROUP BY + ฟังก์ชันสรุป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query ต่อได้ไหม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ไม่ได้ (เป็น dict แล้ว)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ได้ — filter / order_by ต่อ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ตัวอย่างคำถาม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ราคาเฉลี่ยทั้งร้าน?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chemeClr val="tx1"/>
                          </a:solidFill>
                        </a:rPr>
                        <a:t>แบรนด์ไหนมีสินค้าเยอะสุด?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297680"/>
            <a:ext cx="10972800" cy="5029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2544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chemeClr val="dk2"/>
                </a:solidFill>
              </a:rPr>
              <a:t>จำง่าย ๆ: aggregate = "ยุบเหลือหนึ่ง"  /  annotate = "แปะเพิ่มทุกแถว"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เพิ่ม แก้ ลบ — CRUD ใน shell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 = Product.objects.create(name='Mouse TEST-999', brand=b,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category=c, description='ทดสอบ', price=999)   # INSERT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p.price = 899; p.save()                # แก้ทีละตัว (ลืม save = ไม่บันทึก!)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Product.objects.filter(name__contains='TEST').update(price=500)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2                                          # แก้รวดเดียว คืนจำนวนแถว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Product.objects.filter(name__contains='TEST').delete()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(2, {'shop.Product': 2})                   # ลบ + แจกแจงว่าลบอะไรไปบ้าง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• ฟิลด์ FK ส่ง object ทั้งตัว (brand=b) หรือส่งเลข id (brand_id=1) ก็ได้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chemeClr val="accent4"/>
                </a:solidFill>
              </a:rPr>
              <a:t>• Product.objects.all().delete() = ลบทั้งตาราง ไม่มี undo — แต่เรากู้ได้ด้วย load_products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164592"/>
            <a:ext cx="11201400" cy="822960"/>
          </a:xfrm>
        </p:spPr>
        <p:txBody>
          <a:bodyPr anchor="ctr"/>
          <a:lstStyle/>
          <a:p>
            <a:r>
              <a:rPr sz="2700" b="1"/>
              <a:t>เทคนิคโปร — ดู SQL จริง และแก้ปัญหา N+1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411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35305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17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qs = Product.objects.filter(price__gt=60000)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print(qs.query)                        # แอบดู SQL ที่ Django สร้าง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>SELECT ... FROM shop_product WHERE price &gt; 60000</a:t>
            </a:r>
          </a:p>
          <a:p>
            <a:r>
              <a:rPr sz="135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chemeClr val="accent3"/>
                </a:solidFill>
                <a:latin typeface="Consolas"/>
              </a:rPr>
              <a:t># N+1: วนลูป 100 ตัวแล้วแตะ p.brand.name = ยิง SQL 101 ครั้ง!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[p.brand.name for p in Product.objects.all()]            # 101 queries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&gt;&gt;&gt;</a:t>
            </a:r>
            <a:r>
              <a:rPr sz="1350">
                <a:solidFill>
                  <a:schemeClr val="lt1"/>
                </a:solidFill>
                <a:latin typeface="Consolas"/>
              </a:rPr>
              <a:t> [p.brand.name for p in</a:t>
            </a:r>
          </a:p>
          <a:p>
            <a:r>
              <a:rPr sz="1350">
                <a:solidFill>
                  <a:schemeClr val="accent5"/>
                </a:solidFill>
                <a:latin typeface="Consolas"/>
              </a:rPr>
              <a:t>...</a:t>
            </a:r>
            <a:r>
              <a:rPr sz="1350">
                <a:solidFill>
                  <a:schemeClr val="lt1"/>
                </a:solidFill>
                <a:latin typeface="Consolas"/>
              </a:rPr>
              <a:t>      Product.objects.select_related('brand')]            # 1 query!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703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• select_related('brand') สั่งให้ JOIN มาในรอบเดียว — เร็วขึ้น 100 เท่าในตัวอย่างนี้</a:t>
            </a:r>
          </a:p>
          <a:p>
            <a:pPr>
              <a:spcAft>
                <a:spcPts val="600"/>
              </a:spcAft>
            </a:pPr>
            <a:r>
              <a:rPr sz="1500" b="0"/>
              <a:t>• พิสูจน์เองได้ด้วย from django.db import connection แล้วดู len(connection.queries)</a:t>
            </a:r>
          </a:p>
          <a:p>
            <a:pPr>
              <a:spcAft>
                <a:spcPts val="600"/>
              </a:spcAft>
            </a:pPr>
            <a:r>
              <a:rPr sz="1500" b="0"/>
              <a:t>• โบนัส: F expression อัปเดตโดยคำนวณในฐานข้อมูล เช่น update(price=F('price') * 1.10)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tx2">
                    <a:lumMod val="80000"/>
                    <a:lumOff val="20000"/>
                  </a:schemeClr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2920"/>
            <a:ext cx="10515600" cy="868680"/>
          </a:xfrm>
        </p:spPr>
        <p:txBody>
          <a:bodyPr/>
          <a:lstStyle/>
          <a:p>
            <a:r>
              <a:rPr sz="3400" b="1">
                <a:solidFill>
                  <a:schemeClr val="lt1"/>
                </a:solidFill>
              </a:rPr>
              <a:t>สรุป + ฝึกต่อ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10515600" cy="1648206"/>
          </a:xfrm>
          <a:prstGeom prst="roundRect">
            <a:avLst/>
          </a:prstGeom>
          <a:solidFill>
            <a:schemeClr val="dk2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645920"/>
            <a:ext cx="10186416" cy="146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chemeClr val="lt1"/>
                </a:solidFill>
                <a:latin typeface="Consolas"/>
              </a:rPr>
              <a:t>Model.objects.คำสั่ง( ฟิลด์__ข้ามตาราง__lookup = ค่า )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ได้ QuerySet   → all / filter / exclude / order_by / annotate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ได้ Object เดี่ยว → get / first / last / create</a:t>
            </a:r>
          </a:p>
          <a:p>
            <a:r>
              <a:rPr sz="1500">
                <a:solidFill>
                  <a:schemeClr val="lt1"/>
                </a:solidFill>
                <a:latin typeface="Consolas"/>
              </a:rPr>
              <a:t>ได้ค่าธรรมดา   → count / aggregate / exists / update /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chemeClr val="accent2"/>
                </a:solidFill>
              </a:rPr>
              <a:t>•  โจทย์ฝึกหัด 20 ข้อพร้อมเฉลย  —  </a:t>
            </a:r>
            <a:r>
              <a:rPr sz="1600">
                <a:solidFill>
                  <a:schemeClr val="lt2"/>
                </a:solidFill>
                <a:latin typeface="Consolas"/>
              </a:rPr>
              <a:t>Django-Shell-Query-Tutorial.md (บทที่ 13)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chemeClr val="accent2"/>
                </a:solidFill>
              </a:rPr>
              <a:t>•  คำอธิบายโค้ดทุกบรรทัด  —  </a:t>
            </a:r>
            <a:r>
              <a:rPr sz="1600">
                <a:solidFill>
                  <a:schemeClr val="lt2"/>
                </a:solidFill>
                <a:latin typeface="Consolas"/>
              </a:rPr>
              <a:t>Django-Code-Explained-Line-by-Line.md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chemeClr val="accent2"/>
                </a:solidFill>
              </a:rPr>
              <a:t>•  ข้อมูลเละเมื่อไหร่ กู้ได้เสมอ  —  </a:t>
            </a:r>
            <a:r>
              <a:rPr sz="1600">
                <a:solidFill>
                  <a:schemeClr val="lt2"/>
                </a:solidFill>
                <a:latin typeface="Consolas"/>
              </a:rPr>
              <a:t>python manage.py load_products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309360"/>
            <a:ext cx="12191695" cy="10972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chemeClr val="lt2"/>
                </a:solidFill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chemeClr val="lt2"/>
                </a:solidFill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AF1F9"/>
      </a:lt2>
      <a:accent1>
        <a:srgbClr val="2E75B6"/>
      </a:accent1>
      <a:accent2>
        <a:srgbClr val="FFC93C"/>
      </a:accent2>
      <a:accent3>
        <a:srgbClr val="6FBF8E"/>
      </a:accent3>
      <a:accent4>
        <a:srgbClr val="C0392B"/>
      </a:accent4>
      <a:accent5>
        <a:srgbClr val="F5A623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